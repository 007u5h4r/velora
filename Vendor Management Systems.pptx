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KbVbT7Z4lD0CF2MEbuyLMQFhn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C62CB88-4DE6-48EC-9B2E-B65017486AD1}">
  <a:tblStyle styleId="{3C62CB88-4DE6-48EC-9B2E-B65017486A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image" Target="../media/image7.jpg"/><Relationship Id="rId11" Type="http://schemas.openxmlformats.org/officeDocument/2006/relationships/image" Target="../media/image8.png"/><Relationship Id="rId10" Type="http://schemas.openxmlformats.org/officeDocument/2006/relationships/image" Target="../media/image4.png"/><Relationship Id="rId9" Type="http://schemas.openxmlformats.org/officeDocument/2006/relationships/image" Target="../media/image5.png"/><Relationship Id="rId5" Type="http://schemas.openxmlformats.org/officeDocument/2006/relationships/image" Target="../media/image13.jp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9.png"/><Relationship Id="rId10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3.jpg"/><Relationship Id="rId6" Type="http://schemas.openxmlformats.org/officeDocument/2006/relationships/image" Target="../media/image5.png"/><Relationship Id="rId7" Type="http://schemas.openxmlformats.org/officeDocument/2006/relationships/image" Target="../media/image4.png"/><Relationship Id="rId8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372717" y="188843"/>
            <a:ext cx="6987041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4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Vendor Management System </a:t>
            </a:r>
            <a:r>
              <a:rPr b="1" i="0" lang="en-GB" sz="4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1" i="0" lang="en-GB" sz="44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1" sz="44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51954" y="1029157"/>
            <a:ext cx="1128809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have we established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established companies have a VMS basis their needs and size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Onboarding is an issue that is marred with friction to unaligned motives along with process &amp; platform handoffs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Conglomerate ecosystems player like SAP &amp; Oracle etc, Other player use some of the modern platform like Aerchain, Zycus etc. 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1983022" y="2634901"/>
            <a:ext cx="15179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Vertical Ideas 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354055" y="2634901"/>
            <a:ext cx="144424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Lateral Ideas </a:t>
            </a:r>
            <a:endParaRPr/>
          </a:p>
        </p:txBody>
      </p:sp>
      <p:sp>
        <p:nvSpPr>
          <p:cNvPr id="88" name="Google Shape;88;p1"/>
          <p:cNvSpPr/>
          <p:nvPr/>
        </p:nvSpPr>
        <p:spPr>
          <a:xfrm>
            <a:off x="142462" y="3172167"/>
            <a:ext cx="5791199" cy="328329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163916" y="3172167"/>
            <a:ext cx="5791199" cy="3283298"/>
          </a:xfrm>
          <a:prstGeom prst="rect">
            <a:avLst/>
          </a:prstGeom>
          <a:solidFill>
            <a:srgbClr val="002060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72717" y="3429000"/>
            <a:ext cx="5116386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Speed up Onboarding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Bring Parallelism in the approval process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Create a risk based Tiered approval depth process </a:t>
            </a: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(vendor type, scale of project, allowed SOW value, data sensitivity 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•"/>
            </a:pPr>
            <a:r>
              <a:rPr lang="en-GB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Introduce guardrails in the system to prevent fraud </a:t>
            </a:r>
            <a:endParaRPr/>
          </a:p>
          <a:p>
            <a:pPr indent="-1714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433619" y="3743806"/>
            <a:ext cx="458193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Can we build for an underserved industry ?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Beyond the parties already present on the systems who else need to be involved 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557818" y="5074261"/>
            <a:ext cx="491374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is the invisible in this entire process !!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 txBox="1"/>
          <p:nvPr>
            <p:ph type="title"/>
          </p:nvPr>
        </p:nvSpPr>
        <p:spPr>
          <a:xfrm>
            <a:off x="390940" y="201130"/>
            <a:ext cx="10515600" cy="703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alibri"/>
              <a:buNone/>
            </a:pPr>
            <a:r>
              <a:rPr b="1" lang="en-GB">
                <a:solidFill>
                  <a:srgbClr val="002060"/>
                </a:solidFill>
              </a:rPr>
              <a:t>VMS across Industry In General </a:t>
            </a:r>
            <a:r>
              <a:rPr b="1" lang="en-GB">
                <a:solidFill>
                  <a:srgbClr val="FF0000"/>
                </a:solidFill>
              </a:rPr>
              <a:t>.</a:t>
            </a:r>
            <a:endParaRPr b="1">
              <a:solidFill>
                <a:srgbClr val="002060"/>
              </a:solidFill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390940" y="971244"/>
            <a:ext cx="2004523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Organization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Fortune 500s , CMMI Level 5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390940" y="1590261"/>
            <a:ext cx="1544048" cy="4547152"/>
          </a:xfrm>
          <a:prstGeom prst="roundRect">
            <a:avLst>
              <a:gd fmla="val 9708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3620957" y="1590261"/>
            <a:ext cx="1544048" cy="4547152"/>
          </a:xfrm>
          <a:prstGeom prst="roundRect">
            <a:avLst>
              <a:gd fmla="val 9708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850974" y="1590261"/>
            <a:ext cx="1544048" cy="4547152"/>
          </a:xfrm>
          <a:prstGeom prst="roundRect">
            <a:avLst>
              <a:gd fmla="val 9708" name="adj"/>
            </a:avLst>
          </a:prstGeom>
          <a:solidFill>
            <a:schemeClr val="lt2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Typical Company with less thank 300 employees generally across IT, Manufacturing, Heavy industries etc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/>
          <p:nvPr/>
        </p:nvSpPr>
        <p:spPr>
          <a:xfrm>
            <a:off x="10080991" y="1590261"/>
            <a:ext cx="1544048" cy="4547152"/>
          </a:xfrm>
          <a:prstGeom prst="roundRect">
            <a:avLst>
              <a:gd fmla="val 9708" name="adj"/>
            </a:avLst>
          </a:prstGeom>
          <a:solidFill>
            <a:srgbClr val="D0CECE"/>
          </a:solidFill>
          <a:ln>
            <a:noFill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level players less thank 50 people that are not able to work directly with large established player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3062648" y="1020619"/>
            <a:ext cx="26606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 Established vendors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epsiCo unveils new logo and global rebrand | PotatoPro" id="104" name="Google Shape;10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9742" y="1807467"/>
            <a:ext cx="1106444" cy="685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Coca-Cola logo: a complete history | Creative Bloq" id="105" name="Google Shape;10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742" y="2548493"/>
            <a:ext cx="1106444" cy="6156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ilever logo by Miles Newlyn on Dribbble" id="106" name="Google Shape;10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096" y="3197536"/>
            <a:ext cx="883428" cy="662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069" y="4056914"/>
            <a:ext cx="723124" cy="7231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ells Fargo Logo, symbol, meaning, history, PNG, brand" id="108" name="Google Shape;108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90940" y="4937385"/>
            <a:ext cx="1442064" cy="8111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P Ariba logo vierkant - Compera Consulting" id="109" name="Google Shape;109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392379" y="3005386"/>
            <a:ext cx="771187" cy="6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cle Supply Chain Management Software at best price in New Delhi" id="110" name="Google Shape;11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346106" y="3793960"/>
            <a:ext cx="885056" cy="8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579194" y="4688668"/>
            <a:ext cx="913696" cy="182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erchain Reviews 2026: Details, Pricing, &amp; Features | G2" id="112" name="Google Shape;112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523088" y="3782538"/>
            <a:ext cx="969802" cy="509146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3952636" y="2201550"/>
            <a:ext cx="8806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Infosys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2"/>
          <p:cNvSpPr txBox="1"/>
          <p:nvPr/>
        </p:nvSpPr>
        <p:spPr>
          <a:xfrm>
            <a:off x="4113504" y="3196837"/>
            <a:ext cx="62715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TCS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AP Ariba logo vierkant - Compera Consulting" id="115" name="Google Shape;115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625467" y="2212206"/>
            <a:ext cx="771187" cy="6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cle Supply Chain Management Software at best price in New Delhi" id="116" name="Google Shape;116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579194" y="3000780"/>
            <a:ext cx="885056" cy="886686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"/>
          <p:cNvSpPr txBox="1"/>
          <p:nvPr/>
        </p:nvSpPr>
        <p:spPr>
          <a:xfrm>
            <a:off x="4092115" y="3490775"/>
            <a:ext cx="2904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3658610" y="3860107"/>
            <a:ext cx="156250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established Vendor across IT , Manufacturing, etc  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2177118" y="4805194"/>
            <a:ext cx="121667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Indigenous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9641433" y="983749"/>
            <a:ext cx="242316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Entry Level Vendors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Referred to as Sub contractors </a:t>
            </a:r>
            <a:endParaRPr/>
          </a:p>
        </p:txBody>
      </p:sp>
      <p:sp>
        <p:nvSpPr>
          <p:cNvPr id="121" name="Google Shape;121;p2"/>
          <p:cNvSpPr txBox="1"/>
          <p:nvPr/>
        </p:nvSpPr>
        <p:spPr>
          <a:xfrm>
            <a:off x="6704028" y="969094"/>
            <a:ext cx="211218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 Level vendors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Referred to as contractors </a:t>
            </a:r>
            <a:endParaRPr/>
          </a:p>
        </p:txBody>
      </p:sp>
      <p:sp>
        <p:nvSpPr>
          <p:cNvPr id="122" name="Google Shape;122;p2"/>
          <p:cNvSpPr txBox="1"/>
          <p:nvPr/>
        </p:nvSpPr>
        <p:spPr>
          <a:xfrm rot="-5400000">
            <a:off x="8093702" y="3598497"/>
            <a:ext cx="23347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Whitespace ]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2"/>
          <p:cNvCxnSpPr/>
          <p:nvPr/>
        </p:nvCxnSpPr>
        <p:spPr>
          <a:xfrm rot="10800000">
            <a:off x="9272872" y="4977667"/>
            <a:ext cx="0" cy="124615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24" name="Google Shape;124;p2"/>
          <p:cNvSpPr txBox="1"/>
          <p:nvPr/>
        </p:nvSpPr>
        <p:spPr>
          <a:xfrm>
            <a:off x="8353487" y="6366251"/>
            <a:ext cx="2044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Nothing Exists here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193040" y="197485"/>
            <a:ext cx="10515600" cy="3765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Calibri"/>
              <a:buNone/>
            </a:pPr>
            <a:r>
              <a:rPr b="1" lang="en-GB" sz="2800">
                <a:solidFill>
                  <a:srgbClr val="002060"/>
                </a:solidFill>
              </a:rPr>
              <a:t>VMS across Industries : Heavy Engineering </a:t>
            </a:r>
            <a:r>
              <a:rPr b="1" lang="en-GB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2800">
              <a:solidFill>
                <a:srgbClr val="002060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1385966" y="879019"/>
            <a:ext cx="240937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Major Heavy Industries 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5782855" y="879019"/>
            <a:ext cx="13257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Contractors 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9617519" y="879019"/>
            <a:ext cx="17281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 Contractors 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91943" y="1553330"/>
            <a:ext cx="835891" cy="835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liance Industries Limited | RIL" id="134" name="Google Shape;13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93847" y="2389221"/>
            <a:ext cx="1563111" cy="85843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AP Ariba logo vierkant - Compera Consulting" id="135" name="Google Shape;135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9842" y="1887786"/>
            <a:ext cx="771187" cy="62244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Oracle Supply Chain Management Software at best price in New Delhi" id="136" name="Google Shape;136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85973" y="2676360"/>
            <a:ext cx="885056" cy="886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885973" y="4635308"/>
            <a:ext cx="913696" cy="182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erchain Reviews 2026: Details, Pricing, &amp; Features | G2" id="138" name="Google Shape;138;p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85973" y="3729178"/>
            <a:ext cx="969802" cy="5091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628479" y="3488846"/>
            <a:ext cx="1465704" cy="51337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"/>
          <p:cNvSpPr/>
          <p:nvPr/>
        </p:nvSpPr>
        <p:spPr>
          <a:xfrm>
            <a:off x="1362928" y="1431829"/>
            <a:ext cx="2093920" cy="4433262"/>
          </a:xfrm>
          <a:prstGeom prst="roundRect">
            <a:avLst>
              <a:gd fmla="val 9708" name="adj"/>
            </a:avLst>
          </a:prstGeom>
          <a:noFill/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08759" y="4185702"/>
            <a:ext cx="1105143" cy="106533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3"/>
          <p:cNvSpPr/>
          <p:nvPr/>
        </p:nvSpPr>
        <p:spPr>
          <a:xfrm>
            <a:off x="5398769" y="2572701"/>
            <a:ext cx="2093920" cy="3292389"/>
          </a:xfrm>
          <a:prstGeom prst="roundRect">
            <a:avLst>
              <a:gd fmla="val 9708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to medium engineering firms 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discoverability to find the best specialist firm or find the best bid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Limited way to enforce contracts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434610" y="1431829"/>
            <a:ext cx="2093920" cy="4433262"/>
          </a:xfrm>
          <a:prstGeom prst="roundRect">
            <a:avLst>
              <a:gd fmla="val 9708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Smaller players  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discoverability on what opportunities are available 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Very limited protections 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5397495" y="1431830"/>
            <a:ext cx="2093920" cy="957392"/>
          </a:xfrm>
          <a:prstGeom prst="roundRect">
            <a:avLst>
              <a:gd fmla="val 9708" name="adj"/>
            </a:avLst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Larger Players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[not the target 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 rot="-5400000">
            <a:off x="7317698" y="3822056"/>
            <a:ext cx="233474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 Whitespace ]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6" name="Google Shape;146;p3"/>
          <p:cNvCxnSpPr/>
          <p:nvPr/>
        </p:nvCxnSpPr>
        <p:spPr>
          <a:xfrm rot="10800000">
            <a:off x="8496868" y="5201226"/>
            <a:ext cx="17038" cy="65751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47" name="Google Shape;147;p3"/>
          <p:cNvSpPr txBox="1"/>
          <p:nvPr/>
        </p:nvSpPr>
        <p:spPr>
          <a:xfrm>
            <a:off x="7523507" y="5865091"/>
            <a:ext cx="204498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Nothing Exists here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3"/>
          <p:cNvCxnSpPr>
            <a:stCxn id="143" idx="2"/>
            <a:endCxn id="140" idx="2"/>
          </p:cNvCxnSpPr>
          <p:nvPr/>
        </p:nvCxnSpPr>
        <p:spPr>
          <a:xfrm rot="5400000">
            <a:off x="6445370" y="1829491"/>
            <a:ext cx="600" cy="8071800"/>
          </a:xfrm>
          <a:prstGeom prst="bentConnector3">
            <a:avLst>
              <a:gd fmla="val 66290169" name="adj1"/>
            </a:avLst>
          </a:prstGeom>
          <a:noFill/>
          <a:ln cap="flat" cmpd="sng" w="9525">
            <a:solidFill>
              <a:srgbClr val="FF0000"/>
            </a:solidFill>
            <a:prstDash val="lgDash"/>
            <a:miter lim="8000"/>
            <a:headEnd len="sm" w="sm" type="none"/>
            <a:tailEnd len="med" w="med" type="triangle"/>
          </a:ln>
        </p:spPr>
      </p:cxnSp>
      <p:sp>
        <p:nvSpPr>
          <p:cNvPr id="149" name="Google Shape;149;p3"/>
          <p:cNvSpPr txBox="1"/>
          <p:nvPr/>
        </p:nvSpPr>
        <p:spPr>
          <a:xfrm>
            <a:off x="4027424" y="6291731"/>
            <a:ext cx="540718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does not usually happen – Large companies do not onboard smaller companies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4"/>
          <p:cNvSpPr txBox="1"/>
          <p:nvPr>
            <p:ph type="title"/>
          </p:nvPr>
        </p:nvSpPr>
        <p:spPr>
          <a:xfrm>
            <a:off x="0" y="147781"/>
            <a:ext cx="12681528" cy="7296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Font typeface="Calibri"/>
              <a:buNone/>
            </a:pPr>
            <a:r>
              <a:rPr b="1" lang="en-GB">
                <a:solidFill>
                  <a:srgbClr val="002060"/>
                </a:solidFill>
              </a:rPr>
              <a:t>VMS to formalize Contractor &amp; Sub Contractor Interactions</a:t>
            </a:r>
            <a:r>
              <a:rPr b="1" lang="en-GB">
                <a:solidFill>
                  <a:srgbClr val="FF0000"/>
                </a:solidFill>
              </a:rPr>
              <a:t>.</a:t>
            </a:r>
            <a:endParaRPr b="1">
              <a:solidFill>
                <a:srgbClr val="FF0000"/>
              </a:solidFill>
            </a:endParaRPr>
          </a:p>
        </p:txBody>
      </p:sp>
      <p:graphicFrame>
        <p:nvGraphicFramePr>
          <p:cNvPr id="155" name="Google Shape;155;p4"/>
          <p:cNvGraphicFramePr/>
          <p:nvPr/>
        </p:nvGraphicFramePr>
        <p:xfrm>
          <a:off x="1006763" y="120919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{3C62CB88-4DE6-48EC-9B2E-B65017486AD1}</a:tableStyleId>
              </a:tblPr>
              <a:tblGrid>
                <a:gridCol w="4331850"/>
                <a:gridCol w="5052300"/>
              </a:tblGrid>
              <a:tr h="443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u="none" cap="none" strike="noStrike"/>
                        <a:t>Problem 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Solution </a:t>
                      </a:r>
                      <a:endParaRPr sz="1800"/>
                    </a:p>
                  </a:txBody>
                  <a:tcPr marT="45725" marB="45725" marR="91450" marL="91450" anchor="ctr">
                    <a:solidFill>
                      <a:srgbClr val="002060"/>
                    </a:solidFill>
                  </a:tcPr>
                </a:tc>
              </a:tr>
              <a:tr h="70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How do Contractors &amp; Sub – Contractors find each other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Marketplace of trusted sub contractors helping them build a history of work 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0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Formalize onboarding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Onboarding is at a platform level saving critical time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0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No central document repository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alibri"/>
                        <a:buNone/>
                      </a:pPr>
                      <a:r>
                        <a:rPr lang="en-GB" sz="1800"/>
                        <a:t>All Contracts &amp; document Assets are managed centrally 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702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Trust in network </a:t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/>
                        <a:t>Any Fraud and malpractice by either of the parties in the network triggers notification / warnings across network </a:t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5"/>
          <p:cNvSpPr txBox="1"/>
          <p:nvPr>
            <p:ph type="title"/>
          </p:nvPr>
        </p:nvSpPr>
        <p:spPr>
          <a:xfrm>
            <a:off x="0" y="76345"/>
            <a:ext cx="10515600" cy="5954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GB"/>
              <a:t>Trust Quantified </a:t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86619" y="1342736"/>
            <a:ext cx="2376000" cy="595457"/>
          </a:xfrm>
          <a:prstGeom prst="roundRect">
            <a:avLst>
              <a:gd fmla="val 6566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Identity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296255" y="1342736"/>
            <a:ext cx="2376000" cy="595457"/>
          </a:xfrm>
          <a:prstGeom prst="roundRect">
            <a:avLst>
              <a:gd fmla="val 6566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Capability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505891" y="1342736"/>
            <a:ext cx="2376000" cy="595457"/>
          </a:xfrm>
          <a:prstGeom prst="roundRect">
            <a:avLst>
              <a:gd fmla="val 6566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Reputation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715527" y="1342736"/>
            <a:ext cx="2376000" cy="595457"/>
          </a:xfrm>
          <a:prstGeom prst="roundRect">
            <a:avLst>
              <a:gd fmla="val 6566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Continuous verifications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86619" y="2143991"/>
            <a:ext cx="2376000" cy="3371273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96255" y="2143991"/>
            <a:ext cx="2376000" cy="3371273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6505891" y="2143991"/>
            <a:ext cx="2376000" cy="3371273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715527" y="2143990"/>
            <a:ext cx="2376000" cy="3371273"/>
          </a:xfrm>
          <a:prstGeom prst="rect">
            <a:avLst/>
          </a:prstGeom>
          <a:solidFill>
            <a:srgbClr val="D8D8D8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 txBox="1"/>
          <p:nvPr/>
        </p:nvSpPr>
        <p:spPr>
          <a:xfrm>
            <a:off x="100474" y="2319482"/>
            <a:ext cx="2362146" cy="2123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Verified Identities of company Directors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PAN /GST /CIN Information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registered offices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Company Beneficiaries &amp; promoters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 Details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158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 txBox="1"/>
          <p:nvPr/>
        </p:nvSpPr>
        <p:spPr>
          <a:xfrm>
            <a:off x="3310109" y="2319482"/>
            <a:ext cx="2362146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Projects completed </a:t>
            </a:r>
            <a:endParaRPr/>
          </a:p>
          <a:p>
            <a:pPr indent="-84138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Largest historic contract value </a:t>
            </a:r>
            <a:endParaRPr/>
          </a:p>
          <a:p>
            <a:pPr indent="-84138" lvl="0" marL="2667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of contracts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Industries served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Certifications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Manpower / Employees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Assets &amp; Machineries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Average response SLA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Working Capital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Liabilities &amp; Debt </a:t>
            </a:r>
            <a:endParaRPr/>
          </a:p>
          <a:p>
            <a:pPr indent="-158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 txBox="1"/>
          <p:nvPr/>
        </p:nvSpPr>
        <p:spPr>
          <a:xfrm>
            <a:off x="6519745" y="2319482"/>
            <a:ext cx="2362146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Renewal rate ( benchmarked as per industry)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Repeat orders  ( benchmarked as per industry)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Dispute frequency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Legal notices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Audit Frequency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Verifiable Testimonials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Proof of renumeration to employees ( EPFO)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Insurance details </a:t>
            </a:r>
            <a:endParaRPr/>
          </a:p>
          <a:p>
            <a:pPr indent="-158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 txBox="1"/>
          <p:nvPr/>
        </p:nvSpPr>
        <p:spPr>
          <a:xfrm>
            <a:off x="9743235" y="2319482"/>
            <a:ext cx="2362146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Revalidate PAN,GST CIN &amp; Bank Details continuously using Govt provide APIs &amp; Systems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Periodic check-in with client by the platform on performance &amp; general conduct </a:t>
            </a:r>
            <a:endParaRPr/>
          </a:p>
          <a:p>
            <a:pPr indent="-92075" lvl="0" marL="9207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Period verification of any legal implication on directors &amp; organization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14950" y="556817"/>
            <a:ext cx="1562100" cy="435769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Portable Trust 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4" name="Google Shape;174;p5"/>
          <p:cNvCxnSpPr>
            <a:stCxn id="173" idx="1"/>
            <a:endCxn id="161" idx="0"/>
          </p:cNvCxnSpPr>
          <p:nvPr/>
        </p:nvCxnSpPr>
        <p:spPr>
          <a:xfrm flipH="1">
            <a:off x="1274550" y="774701"/>
            <a:ext cx="4040400" cy="5679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5" name="Google Shape;175;p5"/>
          <p:cNvCxnSpPr>
            <a:stCxn id="173" idx="3"/>
            <a:endCxn id="164" idx="0"/>
          </p:cNvCxnSpPr>
          <p:nvPr/>
        </p:nvCxnSpPr>
        <p:spPr>
          <a:xfrm>
            <a:off x="6877050" y="774701"/>
            <a:ext cx="4026600" cy="5679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6" name="Google Shape;176;p5"/>
          <p:cNvCxnSpPr>
            <a:stCxn id="173" idx="3"/>
            <a:endCxn id="163" idx="0"/>
          </p:cNvCxnSpPr>
          <p:nvPr/>
        </p:nvCxnSpPr>
        <p:spPr>
          <a:xfrm>
            <a:off x="6877050" y="774701"/>
            <a:ext cx="816900" cy="5679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cxnSp>
        <p:nvCxnSpPr>
          <p:cNvPr id="177" name="Google Shape;177;p5"/>
          <p:cNvCxnSpPr>
            <a:stCxn id="173" idx="1"/>
            <a:endCxn id="162" idx="0"/>
          </p:cNvCxnSpPr>
          <p:nvPr/>
        </p:nvCxnSpPr>
        <p:spPr>
          <a:xfrm flipH="1">
            <a:off x="4484250" y="774701"/>
            <a:ext cx="830700" cy="567900"/>
          </a:xfrm>
          <a:prstGeom prst="bentConnector2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2026-08-06T16:54:03Z</dcterms:created>
  <dc:creator>Prashant Pratap Singh</dc:creator>
</cp:coreProperties>
</file>